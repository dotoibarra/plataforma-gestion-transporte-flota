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RzwKkYa9Sf0kODgt85f+vxEfK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[0:00–0:20] Saludo y presentación del equipo. Esta es la primera parte de la Fase 2 del Proyecto APT: mostramos una solución ya avanzada, la metodología que usamos y la evidencia del trabajo.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[0:20–1:00] Contexto breve. El proyecto partió como una planilla Excel, pasó por una versión con Supabase y hoy es un backend propio en PHP 8 y MySQL sobre cPanel. El resultado actual es una plataforma web de administración y una PWA para los conductores.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[1:00–2:00] Criterio 1: ajustes al proyecto. Explicar las dificultades (migración a backend propio, datos heredados), los facilitadores (conocimiento del stack, hosting disponible, manual v1.0) y la retroalimentación recibida, que dio origen a tres funciones nuevas. ADAPTAR esta lámina con las dificultades y facilitadores reales del equipo.</a:t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[2:00–2:50] Presentar las tres funciones nuevas: registro de incidentes, historial de despachos y dashboard interactivo (cada indicador es clicable y muestra el detalle). Conectar con la demostración de las capturas que vienen después.</a:t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[2:50–3:50] Criterio 2: metodología. Usamos Scrum porque los requisitos cambiaron con la retroalimentación, porque cada sprint entrega un incremento funcional y porque los roles y eventos dan transparencia al trabajo del equipo. Mencionar la duración real de sus sprints y quién cumple cada rol (Product Owner, Scrum Master, equipo de desarrollo).</a:t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[3:50–4:30] Criterio 3 (programación y almacenamiento de datos). Los clientes (PWA de conductores y web de administración) consumen una API REST en PHP 8, que persiste la información en la base de datos MySQL transpor_flota, desplegada en cPanel.</a:t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[4:30–5:30] Demostración con evidencia. Reemplazar cada recuadro por una captura real: 1) dashboard con un clic abierto en el detalle, 2) historial de despachos, 3) registro de incidentes. Si es posible, mostrar la página en vivo unos segundos.</a:t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a1ad9e9be1bed09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ha1ad9e9be1bed09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[4:30–5:30] Demostración con evidencia. Reemplazar cada recuadro por una captura real: 1) dashboard con un clic abierto en el detalle, 2) historial de despachos, 3) registro de incidentes. Si es posible, mostrar la página en vivo unos segundos.</a:t>
            </a:r>
            <a:endParaRPr/>
          </a:p>
        </p:txBody>
      </p:sp>
      <p:sp>
        <p:nvSpPr>
          <p:cNvPr id="173" name="Google Shape;173;ha1ad9e9be1bed09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a1ad9e9be1bed09_0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ha1ad9e9be1bed09_0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[4:30–5:30] Demostración con evidencia. Reemplazar cada recuadro por una captura real: 1) dashboard con un clic abierto en el detalle, 2) historial de despachos, 3) registro de incidentes. Si es posible, mostrar la página en vivo unos segundos.</a:t>
            </a:r>
            <a:endParaRPr/>
          </a:p>
        </p:txBody>
      </p:sp>
      <p:sp>
        <p:nvSpPr>
          <p:cNvPr id="186" name="Google Shape;186;ha1ad9e9be1bed09_0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a1ad9e9be1bed09_0_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ha1ad9e9be1bed09_0_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[4:30–5:30] Demostración con evidencia. Reemplazar cada recuadro por una captura real: 1) dashboard con un clic abierto en el detalle, 2) historial de despachos, 3) registro de incidentes. Si es posible, mostrar la página en vivo unos segundos.</a:t>
            </a:r>
            <a:endParaRPr/>
          </a:p>
        </p:txBody>
      </p:sp>
      <p:sp>
        <p:nvSpPr>
          <p:cNvPr id="199" name="Google Shape;199;ha1ad9e9be1bed09_0_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[5:30–6:20] Criterios 6 y 7. Mostrar que todas las evidencias están en Git y que el repositorio permite ver el aporte de cada integrante (commits, ramas, tareas), lo que demuestra equidad en el trabajo. Insertar captura de la pestaña de contribuyentes o del historial de commits.</a:t>
            </a:r>
            <a:endParaRPr/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[6:20–7:00] Cierre. Resumir los próximos pasos para la parte 2 de la fase 2 (en 3 semanas) y abrir a preguntas. Ajustar los próximos pasos al plan real del equipo.</a:t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a1ad9e9be1bed09_0_6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a1ad9e9be1bed09_0_6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a1ad9e9be1bed09_0_65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ha1ad9e9be1bed09_0_6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a1ad9e9be1bed09_0_7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ha1ad9e9be1bed09_0_7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chemeClr val="dk2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1"/>
          <p:cNvSpPr txBox="1"/>
          <p:nvPr>
            <p:ph type="title"/>
          </p:nvPr>
        </p:nvSpPr>
        <p:spPr>
          <a:xfrm>
            <a:off x="548640" y="91440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1"/>
          <p:cNvSpPr txBox="1"/>
          <p:nvPr>
            <p:ph idx="1" type="body"/>
          </p:nvPr>
        </p:nvSpPr>
        <p:spPr>
          <a:xfrm>
            <a:off x="548640" y="29260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  <a:defRPr b="1" i="0" sz="2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Proyecto APT · Duoc UC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2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bg>
      <p:bgPr>
        <a:solidFill>
          <a:schemeClr val="dk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mbria"/>
              <a:buNone/>
              <a:defRPr b="1" i="0" sz="2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3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Proyecto APT · Duoc UC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13.xml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slide" Target="/ppt/slides/slide14.xml"/><Relationship Id="rId7" Type="http://schemas.openxmlformats.org/officeDocument/2006/relationships/image" Target="../media/image26.png"/><Relationship Id="rId8" Type="http://schemas.openxmlformats.org/officeDocument/2006/relationships/slide" Target="/ppt/slides/slide15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hyperlink" Target="https://webhostchile.cl/clientes/cliente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8.xml"/><Relationship Id="rId4" Type="http://schemas.openxmlformats.org/officeDocument/2006/relationships/image" Target="../media/image18.png"/><Relationship Id="rId5" Type="http://schemas.openxmlformats.org/officeDocument/2006/relationships/slide" Target="/ppt/slides/slide9.xml"/><Relationship Id="rId6" Type="http://schemas.openxmlformats.org/officeDocument/2006/relationships/image" Target="../media/image15.png"/><Relationship Id="rId7" Type="http://schemas.openxmlformats.org/officeDocument/2006/relationships/slide" Target="/ppt/slides/slide10.xml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7.xml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7.xml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7.xml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hyperlink" Target="https://github.com/DotoIbarra/controlflota.gi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2.xml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2.xml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>
            <p:ph type="title"/>
          </p:nvPr>
        </p:nvSpPr>
        <p:spPr>
          <a:xfrm>
            <a:off x="548640" y="91440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</a:pPr>
            <a:r>
              <a:rPr b="0" lang="en-US"/>
              <a:t>Plataforma integral para la gestión, monitoreo y trazabilidad de operaciones de transporte y flota</a:t>
            </a:r>
            <a:endParaRPr sz="3200"/>
          </a:p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548640" y="29260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</a:pPr>
            <a:r>
              <a:rPr lang="en-US" sz="1800">
                <a:solidFill>
                  <a:schemeClr val="accent5"/>
                </a:solidFill>
              </a:rPr>
              <a:t>Fase 2 </a:t>
            </a:r>
            <a:endParaRPr sz="1800"/>
          </a:p>
        </p:txBody>
      </p:sp>
      <p:sp>
        <p:nvSpPr>
          <p:cNvPr id="26" name="Google Shape;26;p1"/>
          <p:cNvSpPr txBox="1"/>
          <p:nvPr/>
        </p:nvSpPr>
        <p:spPr>
          <a:xfrm>
            <a:off x="548640" y="384048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Integrantes: Raul Ibarra Carvajal · Javier Perez Arenas · José González · Emanuel Meza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Docente: Osnellys Andrade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Duoc UC · 6 de Octubre del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943600" y="822960"/>
            <a:ext cx="2926080" cy="2926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92240" y="1371600"/>
            <a:ext cx="1828800" cy="182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mión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0" y="1783080"/>
            <a:ext cx="118872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</a:rPr>
              <a:t>De una planilla Excel a una plataforma propia</a:t>
            </a:r>
            <a:endParaRPr sz="2600"/>
          </a:p>
        </p:txBody>
      </p:sp>
      <p:sp>
        <p:nvSpPr>
          <p:cNvPr id="36" name="Google Shape;36;p2"/>
          <p:cNvSpPr/>
          <p:nvPr/>
        </p:nvSpPr>
        <p:spPr>
          <a:xfrm>
            <a:off x="457200" y="1234440"/>
            <a:ext cx="2468880" cy="233172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so 1" id="38" name="Google Shape;38;p2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221" y="16294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 txBox="1"/>
          <p:nvPr/>
        </p:nvSpPr>
        <p:spPr>
          <a:xfrm>
            <a:off x="1463040" y="14630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85800" y="22402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Planilla Excel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685800" y="26517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Primer control de la flota en una hoja de cálculo (control-de-flota-vehicular.xlsx).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iguiente etapa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5808" y="2240280"/>
            <a:ext cx="18288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3337560" y="1234440"/>
            <a:ext cx="2468880" cy="233172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566160" y="1463040"/>
            <a:ext cx="640080" cy="6400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so 2" id="45" name="Google Shape;45;p2">
            <a:hlinkClick action="ppaction://hlinksldjump"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32581" y="16294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 txBox="1"/>
          <p:nvPr/>
        </p:nvSpPr>
        <p:spPr>
          <a:xfrm>
            <a:off x="4343400" y="14630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3566160" y="22402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 con Supabase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3566160" y="26517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Primera versión web apoyada en servicios de terceros.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iguiente etapa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6168" y="2240280"/>
            <a:ext cx="18288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6217920" y="1234440"/>
            <a:ext cx="2468880" cy="233172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46520" y="1463040"/>
            <a:ext cx="640080" cy="64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so 3" id="52" name="Google Shape;52;p2">
            <a:hlinkClick action="ppaction://hlinksldjump"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12941" y="16294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 txBox="1"/>
          <p:nvPr/>
        </p:nvSpPr>
        <p:spPr>
          <a:xfrm>
            <a:off x="7223760" y="14630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Etapa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6446520" y="22402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Backend propio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6446520" y="26517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REST en PHP 8 y base de datos MySQL sobre hosting cPanel.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fmla="val 15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Hoy: </a:t>
            </a: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plataforma web de administración de flota + PWA para conductores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</a:rPr>
              <a:t>Ajustes al proyecto a partir del avance</a:t>
            </a:r>
            <a:endParaRPr sz="2600"/>
          </a:p>
        </p:txBody>
      </p:sp>
      <p:sp>
        <p:nvSpPr>
          <p:cNvPr id="65" name="Google Shape;65;p3"/>
          <p:cNvSpPr/>
          <p:nvPr/>
        </p:nvSpPr>
        <p:spPr>
          <a:xfrm>
            <a:off x="457200" y="1188720"/>
            <a:ext cx="2560320" cy="251460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ficultades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839" y="15023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 txBox="1"/>
          <p:nvPr/>
        </p:nvSpPr>
        <p:spPr>
          <a:xfrm>
            <a:off x="1280160" y="13716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Dificultades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640080" y="2103120"/>
            <a:ext cx="22402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Migrar de Supabase a un backend propio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Ordenar los datos heredados de la planilla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Coordinar los avances del equipo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291840" y="1188720"/>
            <a:ext cx="2560320" cy="251460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474720" y="137160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acilitadores"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5479" y="15023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 txBox="1"/>
          <p:nvPr/>
        </p:nvSpPr>
        <p:spPr>
          <a:xfrm>
            <a:off x="4114800" y="13716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Facilitadores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3474720" y="2103120"/>
            <a:ext cx="22402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Dominio de PHP, MySQL y JavaScript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Hosting cPanel ya disponible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v1.0 como base documental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126480" y="1188720"/>
            <a:ext cx="2560320" cy="251460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309360" y="1371600"/>
            <a:ext cx="502920" cy="5029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troalimentación" id="77" name="Google Shape;7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0119" y="15023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/>
          <p:nvPr/>
        </p:nvSpPr>
        <p:spPr>
          <a:xfrm>
            <a:off x="6949440" y="13716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Retroalimentación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6309360" y="2103120"/>
            <a:ext cx="22402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los incidentes de la flota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 el historial de despachos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 el detalle desde el dashboard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fmla="val 1714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Ajustes incorporados: registro de incidentes · historial de despachos · dashboard interactivo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</a:rPr>
              <a:t>Nuevas funciones incorporadas</a:t>
            </a:r>
            <a:endParaRPr sz="2600"/>
          </a:p>
        </p:txBody>
      </p:sp>
      <p:sp>
        <p:nvSpPr>
          <p:cNvPr id="89" name="Google Shape;89;p4"/>
          <p:cNvSpPr/>
          <p:nvPr/>
        </p:nvSpPr>
        <p:spPr>
          <a:xfrm>
            <a:off x="457200" y="1188720"/>
            <a:ext cx="2560320" cy="3017520"/>
          </a:xfrm>
          <a:prstGeom prst="roundRect">
            <a:avLst>
              <a:gd fmla="val 428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85800" y="1417320"/>
            <a:ext cx="868680" cy="8686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gistro de incidentes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657" y="164317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/>
        </p:nvSpPr>
        <p:spPr>
          <a:xfrm>
            <a:off x="685800" y="246888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Registro de incidentes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685800" y="2880360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registrar y consultar los incidentes asociados a la flota, dejando respaldo en la base de datos.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291840" y="1188720"/>
            <a:ext cx="2560320" cy="3017520"/>
          </a:xfrm>
          <a:prstGeom prst="roundRect">
            <a:avLst>
              <a:gd fmla="val 428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520440" y="1417320"/>
            <a:ext cx="868680" cy="8686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istorial de despachos" id="96" name="Google Shape;9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6297" y="164317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 txBox="1"/>
          <p:nvPr/>
        </p:nvSpPr>
        <p:spPr>
          <a:xfrm>
            <a:off x="3520440" y="246888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Historial de despachos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3520440" y="2880360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revisar los despachos realizados, con trazabilidad de lo ocurrido en cada uno.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126480" y="1188720"/>
            <a:ext cx="2560320" cy="3017520"/>
          </a:xfrm>
          <a:prstGeom prst="roundRect">
            <a:avLst>
              <a:gd fmla="val 428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355080" y="1417320"/>
            <a:ext cx="868680" cy="8686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shboard interactivo" id="101" name="Google Shape;10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0937" y="164317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6355080" y="246888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Dashboard interactivo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6355080" y="2880360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indicador de la página principal se puede presionar y despliega el detalle de la información.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</a:rPr>
              <a:t>Metodología: Scrum</a:t>
            </a:r>
            <a:endParaRPr sz="2600"/>
          </a:p>
        </p:txBody>
      </p:sp>
      <p:sp>
        <p:nvSpPr>
          <p:cNvPr id="111" name="Google Shape;111;p5"/>
          <p:cNvSpPr txBox="1"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¿Por qué Scrum?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7200" y="160020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quisitos que cambian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46" y="17428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1188720" y="15544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Requisitos que cambian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retroalimentación modificó el alcance; Scrum lo gestiona en cada sprint.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ntregas incrementales"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846" y="261152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188720" y="24231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Entregas incrementales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sprint deja una versión funcional que se puede demostrar.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57200" y="3337560"/>
            <a:ext cx="548640" cy="54864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les y transparencia" id="119" name="Google Shape;11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846" y="34802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1188720" y="32918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Roles y transparencia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Owner, Scrum Master y equipo con responsabilidades claras.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¿Cómo lo aplicamos?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846320" y="16002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484632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486400" y="158191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Product Backlog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Funciones y requisitos priorizados.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846320" y="22402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484632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5486400" y="222199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Sprint Planning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elige qué tareas entran al sprint.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846320" y="28803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84632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486400" y="286207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Sprint y Daily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con seguimiento diario.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846320" y="352044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846320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5486400" y="350215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Review y Retrospectiva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Retroalimentación y mejora del proceso.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Fuente: Schwaber y Sutherland (2020).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</a:rPr>
              <a:t>Arquitectura y almacenamiento de datos</a:t>
            </a:r>
            <a:endParaRPr sz="2600"/>
          </a:p>
        </p:txBody>
      </p:sp>
      <p:sp>
        <p:nvSpPr>
          <p:cNvPr id="142" name="Google Shape;142;p6"/>
          <p:cNvSpPr/>
          <p:nvPr/>
        </p:nvSpPr>
        <p:spPr>
          <a:xfrm>
            <a:off x="457200" y="1280160"/>
            <a:ext cx="2560320" cy="914400"/>
          </a:xfrm>
          <a:prstGeom prst="roundRect">
            <a:avLst>
              <a:gd fmla="val 12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457200" y="12801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PWA para conductores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JavaScript nativo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7200" y="2423160"/>
            <a:ext cx="2560320" cy="914400"/>
          </a:xfrm>
          <a:prstGeom prst="roundRect">
            <a:avLst>
              <a:gd fmla="val 12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457200" y="24231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de administración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JavaScript nativo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657600" y="1280160"/>
            <a:ext cx="2194560" cy="2057400"/>
          </a:xfrm>
          <a:prstGeom prst="roundRect">
            <a:avLst>
              <a:gd fmla="val 533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3657600" y="1280160"/>
            <a:ext cx="21945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PHP 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492240" y="1280160"/>
            <a:ext cx="2194560" cy="2057400"/>
          </a:xfrm>
          <a:prstGeom prst="roundRect">
            <a:avLst>
              <a:gd fmla="val 533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6492240" y="1280160"/>
            <a:ext cx="21945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transpor_flota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lujo hacia la API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ujo hacia la base de datos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457200" y="3566160"/>
            <a:ext cx="8229600" cy="457200"/>
          </a:xfrm>
          <a:prstGeom prst="roundRect">
            <a:avLst>
              <a:gd fmla="val 24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>
            <a:hlinkClick r:id="rId4"/>
          </p:cNvPr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Despliegue sobre hosting cPanel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Prácticas de la industria: API REST, separación entre frontend y backend, base de datos relacional.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</a:rPr>
              <a:t>Evidencia de avance de la plataforma</a:t>
            </a:r>
            <a:endParaRPr sz="2600"/>
          </a:p>
        </p:txBody>
      </p:sp>
      <p:sp>
        <p:nvSpPr>
          <p:cNvPr id="162" name="Google Shape;162;p7"/>
          <p:cNvSpPr/>
          <p:nvPr/>
        </p:nvSpPr>
        <p:spPr>
          <a:xfrm>
            <a:off x="457200" y="1188720"/>
            <a:ext cx="4754880" cy="3383280"/>
          </a:xfrm>
          <a:prstGeom prst="roundRect">
            <a:avLst>
              <a:gd fmla="val 2703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440680" y="1188720"/>
            <a:ext cx="3246120" cy="16002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440680" y="2971800"/>
            <a:ext cx="3246120" cy="16002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5669280" y="3154680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Registro de incidentes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7" title="Captura de pantalla 2026-07-14 150826.png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166925"/>
            <a:ext cx="4816951" cy="3383275"/>
          </a:xfrm>
          <a:prstGeom prst="rect">
            <a:avLst/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168" name="Google Shape;168;p7">
            <a:hlinkClick action="ppaction://hlinksldjump"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0675" y="1097275"/>
            <a:ext cx="3246125" cy="1783101"/>
          </a:xfrm>
          <a:prstGeom prst="rect">
            <a:avLst/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169" name="Google Shape;169;p7">
            <a:hlinkClick action="ppaction://hlinksldjump"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61750" y="2987850"/>
            <a:ext cx="3225048" cy="158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a1ad9e9be1bed09_0_4"/>
          <p:cNvSpPr txBox="1"/>
          <p:nvPr>
            <p:ph type="title"/>
          </p:nvPr>
        </p:nvSpPr>
        <p:spPr>
          <a:xfrm>
            <a:off x="457200" y="27432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</a:rPr>
              <a:t>Evidencia de avance de la plataforma</a:t>
            </a:r>
            <a:endParaRPr sz="2600"/>
          </a:p>
        </p:txBody>
      </p:sp>
      <p:sp>
        <p:nvSpPr>
          <p:cNvPr id="176" name="Google Shape;176;ha1ad9e9be1bed09_0_4"/>
          <p:cNvSpPr/>
          <p:nvPr/>
        </p:nvSpPr>
        <p:spPr>
          <a:xfrm>
            <a:off x="457200" y="1188720"/>
            <a:ext cx="4755000" cy="3383400"/>
          </a:xfrm>
          <a:prstGeom prst="roundRect">
            <a:avLst>
              <a:gd fmla="val 2703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ha1ad9e9be1bed09_0_4"/>
          <p:cNvSpPr/>
          <p:nvPr/>
        </p:nvSpPr>
        <p:spPr>
          <a:xfrm>
            <a:off x="5440680" y="1188720"/>
            <a:ext cx="3246000" cy="16002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ha1ad9e9be1bed09_0_4"/>
          <p:cNvSpPr txBox="1"/>
          <p:nvPr/>
        </p:nvSpPr>
        <p:spPr>
          <a:xfrm>
            <a:off x="5669280" y="1371600"/>
            <a:ext cx="2788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Historial de despachos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ha1ad9e9be1bed09_0_4"/>
          <p:cNvSpPr/>
          <p:nvPr/>
        </p:nvSpPr>
        <p:spPr>
          <a:xfrm>
            <a:off x="5440680" y="2971800"/>
            <a:ext cx="3246000" cy="16002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ha1ad9e9be1bed09_0_4"/>
          <p:cNvSpPr txBox="1"/>
          <p:nvPr/>
        </p:nvSpPr>
        <p:spPr>
          <a:xfrm>
            <a:off x="5669280" y="3154680"/>
            <a:ext cx="2788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Registro de incidentes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ha1ad9e9be1bed09_0_4"/>
          <p:cNvSpPr txBox="1"/>
          <p:nvPr>
            <p:ph idx="4294967295" type="sldNum"/>
          </p:nvPr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ha1ad9e9be1bed09_0_4" title="Captura de pantalla 2026-07-14 150826.png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a1ad9e9be1bed09_0_28"/>
          <p:cNvSpPr txBox="1"/>
          <p:nvPr>
            <p:ph type="title"/>
          </p:nvPr>
        </p:nvSpPr>
        <p:spPr>
          <a:xfrm>
            <a:off x="457200" y="27432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</a:rPr>
              <a:t>Evidencia de avance de la plataforma</a:t>
            </a:r>
            <a:endParaRPr sz="2600"/>
          </a:p>
        </p:txBody>
      </p:sp>
      <p:sp>
        <p:nvSpPr>
          <p:cNvPr id="189" name="Google Shape;189;ha1ad9e9be1bed09_0_28"/>
          <p:cNvSpPr/>
          <p:nvPr/>
        </p:nvSpPr>
        <p:spPr>
          <a:xfrm>
            <a:off x="457200" y="1188720"/>
            <a:ext cx="4755000" cy="3383400"/>
          </a:xfrm>
          <a:prstGeom prst="roundRect">
            <a:avLst>
              <a:gd fmla="val 2703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ha1ad9e9be1bed09_0_28"/>
          <p:cNvSpPr/>
          <p:nvPr/>
        </p:nvSpPr>
        <p:spPr>
          <a:xfrm>
            <a:off x="5440680" y="1188720"/>
            <a:ext cx="3246000" cy="16002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a1ad9e9be1bed09_0_28"/>
          <p:cNvSpPr txBox="1"/>
          <p:nvPr/>
        </p:nvSpPr>
        <p:spPr>
          <a:xfrm>
            <a:off x="5669280" y="1371600"/>
            <a:ext cx="2788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Historial de despachos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ha1ad9e9be1bed09_0_28"/>
          <p:cNvSpPr/>
          <p:nvPr/>
        </p:nvSpPr>
        <p:spPr>
          <a:xfrm>
            <a:off x="5440680" y="2971800"/>
            <a:ext cx="3246000" cy="16002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ha1ad9e9be1bed09_0_28"/>
          <p:cNvSpPr txBox="1"/>
          <p:nvPr/>
        </p:nvSpPr>
        <p:spPr>
          <a:xfrm>
            <a:off x="5669280" y="3154680"/>
            <a:ext cx="2788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Registro de incidentes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ha1ad9e9be1bed09_0_28"/>
          <p:cNvSpPr txBox="1"/>
          <p:nvPr>
            <p:ph idx="4294967295" type="sldNum"/>
          </p:nvPr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ha1ad9e9be1bed09_0_28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6900"/>
            <a:ext cx="9296400" cy="51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a1ad9e9be1bed09_0_16"/>
          <p:cNvSpPr txBox="1"/>
          <p:nvPr>
            <p:ph type="title"/>
          </p:nvPr>
        </p:nvSpPr>
        <p:spPr>
          <a:xfrm>
            <a:off x="457200" y="27432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</a:rPr>
              <a:t>Evidencia de avance de la plataforma</a:t>
            </a:r>
            <a:endParaRPr sz="2600"/>
          </a:p>
        </p:txBody>
      </p:sp>
      <p:sp>
        <p:nvSpPr>
          <p:cNvPr id="202" name="Google Shape;202;ha1ad9e9be1bed09_0_16"/>
          <p:cNvSpPr/>
          <p:nvPr/>
        </p:nvSpPr>
        <p:spPr>
          <a:xfrm>
            <a:off x="457200" y="1188720"/>
            <a:ext cx="4755000" cy="3383400"/>
          </a:xfrm>
          <a:prstGeom prst="roundRect">
            <a:avLst>
              <a:gd fmla="val 2703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ha1ad9e9be1bed09_0_16"/>
          <p:cNvSpPr/>
          <p:nvPr/>
        </p:nvSpPr>
        <p:spPr>
          <a:xfrm>
            <a:off x="5440680" y="1188720"/>
            <a:ext cx="3246000" cy="16002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ha1ad9e9be1bed09_0_16"/>
          <p:cNvSpPr txBox="1"/>
          <p:nvPr/>
        </p:nvSpPr>
        <p:spPr>
          <a:xfrm>
            <a:off x="5669280" y="1371600"/>
            <a:ext cx="2788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Historial de despachos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ha1ad9e9be1bed09_0_16"/>
          <p:cNvSpPr/>
          <p:nvPr/>
        </p:nvSpPr>
        <p:spPr>
          <a:xfrm>
            <a:off x="5440680" y="2971800"/>
            <a:ext cx="3246000" cy="16002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ha1ad9e9be1bed09_0_16"/>
          <p:cNvSpPr txBox="1"/>
          <p:nvPr/>
        </p:nvSpPr>
        <p:spPr>
          <a:xfrm>
            <a:off x="5669280" y="3154680"/>
            <a:ext cx="2788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Registro de incidentes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ha1ad9e9be1bed09_0_16"/>
          <p:cNvSpPr txBox="1"/>
          <p:nvPr>
            <p:ph idx="4294967295" type="sldNum"/>
          </p:nvPr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ha1ad9e9be1bed09_0_16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4855"/>
            <a:ext cx="9144000" cy="5093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</a:rPr>
              <a:t>Evidencias en Git y aporte del equipo</a:t>
            </a:r>
            <a:endParaRPr sz="2600"/>
          </a:p>
        </p:txBody>
      </p:sp>
      <p:sp>
        <p:nvSpPr>
          <p:cNvPr id="215" name="Google Shape;215;p8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positorio Git" id="216" name="Google Shape;2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621" y="144658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 txBox="1"/>
          <p:nvPr/>
        </p:nvSpPr>
        <p:spPr>
          <a:xfrm>
            <a:off x="1280160" y="123444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Repositorio Git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Historial de commits con el avance de documentación, programación y base de datos.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57200" y="2377440"/>
            <a:ext cx="640080" cy="6400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porte por integrante" id="219" name="Google Shape;21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621" y="25438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 txBox="1"/>
          <p:nvPr/>
        </p:nvSpPr>
        <p:spPr>
          <a:xfrm>
            <a:off x="1280160" y="233172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Aporte por integrante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Commits, ramas y tareas por persona, visibles en el repositorio.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umentación" id="222" name="Google Shape;22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621" y="36411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 txBox="1"/>
          <p:nvPr/>
        </p:nvSpPr>
        <p:spPr>
          <a:xfrm>
            <a:off x="1280160" y="34290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de capacitación y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técnica.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5120640" y="1280160"/>
            <a:ext cx="3566160" cy="320040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>
            <a:hlinkClick r:id="rId6"/>
          </p:cNvPr>
          <p:cNvSpPr txBox="1"/>
          <p:nvPr/>
        </p:nvSpPr>
        <p:spPr>
          <a:xfrm>
            <a:off x="5349240" y="1463040"/>
            <a:ext cx="31089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Repositorio en Git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lt1"/>
                </a:solidFill>
              </a:rPr>
              <a:t>Próximos pasos</a:t>
            </a:r>
            <a:endParaRPr sz="2600"/>
          </a:p>
        </p:txBody>
      </p:sp>
      <p:sp>
        <p:nvSpPr>
          <p:cNvPr id="233" name="Google Shape;233;p9"/>
          <p:cNvSpPr/>
          <p:nvPr/>
        </p:nvSpPr>
        <p:spPr>
          <a:xfrm>
            <a:off x="1874525" y="1257295"/>
            <a:ext cx="2560200" cy="2103000"/>
          </a:xfrm>
          <a:prstGeom prst="roundRect">
            <a:avLst>
              <a:gd fmla="val 5217" name="adj"/>
            </a:avLst>
          </a:prstGeom>
          <a:solidFill>
            <a:schemeClr val="lt1">
              <a:alpha val="12157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2103125" y="1440175"/>
            <a:ext cx="640200" cy="64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ulir y probar" id="235" name="Google Shape;2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9546" y="1606596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 txBox="1"/>
          <p:nvPr/>
        </p:nvSpPr>
        <p:spPr>
          <a:xfrm>
            <a:off x="2103125" y="2217415"/>
            <a:ext cx="214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Pulir y probar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2103125" y="2628895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Probar las nuevas funciones y corregir errores.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709165" y="1257295"/>
            <a:ext cx="2560200" cy="2103000"/>
          </a:xfrm>
          <a:prstGeom prst="roundRect">
            <a:avLst>
              <a:gd fmla="val 5217" name="adj"/>
            </a:avLst>
          </a:prstGeom>
          <a:solidFill>
            <a:schemeClr val="lt1">
              <a:alpha val="12157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937765" y="1440175"/>
            <a:ext cx="640200" cy="64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umentación" id="240" name="Google Shape;2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4186" y="1606596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 txBox="1"/>
          <p:nvPr/>
        </p:nvSpPr>
        <p:spPr>
          <a:xfrm>
            <a:off x="4937765" y="2217415"/>
            <a:ext cx="214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4937765" y="2628895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Actualizar el manual y la documentación técnica.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Gracias · ¿Preguntas?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a1ad9e9be1bed09_0_60"/>
          <p:cNvSpPr txBox="1"/>
          <p:nvPr>
            <p:ph type="title"/>
          </p:nvPr>
        </p:nvSpPr>
        <p:spPr>
          <a:xfrm>
            <a:off x="457200" y="274320"/>
            <a:ext cx="8229600" cy="73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ha1ad9e9be1bed09_0_60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8800" y="0"/>
            <a:ext cx="92016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a1ad9e9be1bed09_0_65"/>
          <p:cNvSpPr txBox="1"/>
          <p:nvPr>
            <p:ph type="title"/>
          </p:nvPr>
        </p:nvSpPr>
        <p:spPr>
          <a:xfrm>
            <a:off x="457200" y="274320"/>
            <a:ext cx="8229600" cy="73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ha1ad9e9be1bed09_0_65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a1ad9e9be1bed09_0_70"/>
          <p:cNvSpPr txBox="1"/>
          <p:nvPr>
            <p:ph type="title"/>
          </p:nvPr>
        </p:nvSpPr>
        <p:spPr>
          <a:xfrm>
            <a:off x="457200" y="274320"/>
            <a:ext cx="8229600" cy="73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ha1ad9e9be1bed09_0_70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PT Flota">
  <a:themeElements>
    <a:clrScheme name="APT Flota">
      <a:dk1>
        <a:srgbClr val="16262B"/>
      </a:dk1>
      <a:lt1>
        <a:srgbClr val="FFFFFF"/>
      </a:lt1>
      <a:dk2>
        <a:srgbClr val="12343B"/>
      </a:dk2>
      <a:lt2>
        <a:srgbClr val="EAF1F2"/>
      </a:lt2>
      <a:accent1>
        <a:srgbClr val="F2A900"/>
      </a:accent1>
      <a:accent2>
        <a:srgbClr val="1F7A6D"/>
      </a:accent2>
      <a:accent3>
        <a:srgbClr val="C8553D"/>
      </a:accent3>
      <a:accent4>
        <a:srgbClr val="466670"/>
      </a:accent4>
      <a:accent5>
        <a:srgbClr val="8FB8B0"/>
      </a:accent5>
      <a:accent6>
        <a:srgbClr val="3D5A80"/>
      </a:accent6>
      <a:hlink>
        <a:srgbClr val="1F7A6D"/>
      </a:hlink>
      <a:folHlink>
        <a:srgbClr val="4666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2026-10-01T22:22:08Z</dcterms:created>
  <dc:creator>Equipo Proyecto APT</dc:creator>
</cp:coreProperties>
</file>