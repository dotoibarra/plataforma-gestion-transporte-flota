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" charset="1" panose="020B0604020202020204"/>
      <p:regular r:id="rId17"/>
    </p:embeddedFont>
    <p:embeddedFont>
      <p:font typeface="Arial Bold" charset="1" panose="020B0704020202020204"/>
      <p:regular r:id="rId18"/>
    </p:embeddedFont>
    <p:embeddedFont>
      <p:font typeface="Arial Italics" charset="1" panose="020B0604020202090204"/>
      <p:regular r:id="rId19"/>
    </p:embeddedFont>
    <p:embeddedFont>
      <p:font typeface="Barlow SemiCondensed Bold" charset="1" panose="00000806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6.jpe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jpeg" Type="http://schemas.openxmlformats.org/officeDocument/2006/relationships/image"/><Relationship Id="rId6" Target="../media/image20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6.jpe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573710" y="1028700"/>
            <a:ext cx="7685590" cy="7685590"/>
          </a:xfrm>
          <a:custGeom>
            <a:avLst/>
            <a:gdLst/>
            <a:ahLst/>
            <a:cxnLst/>
            <a:rect r="r" b="b" t="t" l="l"/>
            <a:pathLst>
              <a:path h="7685590" w="7685590">
                <a:moveTo>
                  <a:pt x="7685590" y="0"/>
                </a:moveTo>
                <a:lnTo>
                  <a:pt x="0" y="0"/>
                </a:lnTo>
                <a:lnTo>
                  <a:pt x="0" y="7685590"/>
                </a:lnTo>
                <a:lnTo>
                  <a:pt x="7685590" y="7685590"/>
                </a:lnTo>
                <a:lnTo>
                  <a:pt x="768559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14716004" y="1028700"/>
            <a:ext cx="2543296" cy="0"/>
          </a:xfrm>
          <a:prstGeom prst="line">
            <a:avLst/>
          </a:prstGeom>
          <a:ln cap="rnd" w="581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436571" y="2059866"/>
            <a:ext cx="3959868" cy="7835280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05621" t="0" r="-105621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987423" y="1162323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761CC3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983" y="1347787"/>
            <a:ext cx="7767349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00"/>
              </a:lnSpc>
            </a:pPr>
            <a:r>
              <a:rPr lang="en-US" b="true" sz="6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FASE 1</a:t>
            </a:r>
            <a:r>
              <a:rPr lang="en-US" b="true" sz="6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Definición del Proyecto APT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758312" y="1210560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23983" y="7621718"/>
            <a:ext cx="3899711" cy="247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99"/>
              </a:lnSpc>
            </a:pPr>
            <a:r>
              <a:rPr lang="en-US" sz="2999" i="true" spc="-119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Javier Perez Arenas</a:t>
            </a:r>
            <a:r>
              <a:rPr lang="en-US" sz="2999" i="true" spc="-119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 </a:t>
            </a:r>
          </a:p>
          <a:p>
            <a:pPr algn="just">
              <a:lnSpc>
                <a:spcPts val="3299"/>
              </a:lnSpc>
            </a:pPr>
            <a:r>
              <a:rPr lang="en-US" sz="2999" i="true" spc="-119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Raul Ibarra Carvajal </a:t>
            </a:r>
          </a:p>
          <a:p>
            <a:pPr algn="just">
              <a:lnSpc>
                <a:spcPts val="3299"/>
              </a:lnSpc>
            </a:pPr>
          </a:p>
          <a:p>
            <a:pPr algn="just">
              <a:lnSpc>
                <a:spcPts val="3299"/>
              </a:lnSpc>
            </a:pPr>
            <a:r>
              <a:rPr lang="en-US" sz="2999" spc="-1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Docente: Osnellys Andrade</a:t>
            </a:r>
          </a:p>
          <a:p>
            <a:pPr algn="just">
              <a:lnSpc>
                <a:spcPts val="32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23983" y="3796111"/>
            <a:ext cx="8019842" cy="209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Plataforma integral para la gestión, monitoreo y trazabilidad de operaciones de transporte y flota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4716004" y="1028700"/>
            <a:ext cx="2543296" cy="0"/>
          </a:xfrm>
          <a:prstGeom prst="line">
            <a:avLst/>
          </a:prstGeom>
          <a:ln cap="rnd" w="581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935246" y="3477541"/>
            <a:ext cx="11561517" cy="11561517"/>
          </a:xfrm>
          <a:custGeom>
            <a:avLst/>
            <a:gdLst/>
            <a:ahLst/>
            <a:cxnLst/>
            <a:rect r="r" b="b" t="t" l="l"/>
            <a:pathLst>
              <a:path h="11561517" w="11561517">
                <a:moveTo>
                  <a:pt x="0" y="0"/>
                </a:moveTo>
                <a:lnTo>
                  <a:pt x="11561517" y="0"/>
                </a:lnTo>
                <a:lnTo>
                  <a:pt x="11561517" y="11561518"/>
                </a:lnTo>
                <a:lnTo>
                  <a:pt x="0" y="11561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715703" y="2121231"/>
            <a:ext cx="7779212" cy="4462062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0" t="-3228" r="0" b="-3228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224017" y="3802389"/>
            <a:ext cx="2703841" cy="5350014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158416" t="0" r="-8761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987423" y="1162323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761CC3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0085" y="3052711"/>
            <a:ext cx="9055618" cy="640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Transporte OGV es una empresa de transporte de carga que actualmente gestiona sus operaciones mediante planillas Excel, registros en papel y comunicación telefónica, lo que dificulta el control de la flota, la gestión de documentación y el seguimiento de los vehículos en ruta. Para solucionar esta problemática, se propone desarrollar una plataforma web integral que centralice la información de la flota e incorpore seguimiento GPS, un portal PWA para conductores, notificaciones internas y auditoría de las acciones realizadas en el sistema.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60085" y="1376362"/>
            <a:ext cx="6306145" cy="99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8"/>
              </a:lnSpc>
            </a:pPr>
            <a:r>
              <a:rPr lang="en-US" b="true" sz="6944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INTRODUCCIÓN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6758312" y="1210560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BB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194597" y="-4109227"/>
            <a:ext cx="12152325" cy="12152325"/>
          </a:xfrm>
          <a:custGeom>
            <a:avLst/>
            <a:gdLst/>
            <a:ahLst/>
            <a:cxnLst/>
            <a:rect r="r" b="b" t="t" l="l"/>
            <a:pathLst>
              <a:path h="12152325" w="12152325">
                <a:moveTo>
                  <a:pt x="0" y="0"/>
                </a:moveTo>
                <a:lnTo>
                  <a:pt x="12152325" y="0"/>
                </a:lnTo>
                <a:lnTo>
                  <a:pt x="12152325" y="12152325"/>
                </a:lnTo>
                <a:lnTo>
                  <a:pt x="0" y="12152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4812600" y="738187"/>
            <a:ext cx="2543296" cy="0"/>
          </a:xfrm>
          <a:prstGeom prst="line">
            <a:avLst/>
          </a:prstGeom>
          <a:ln cap="rnd" w="581025">
            <a:solidFill>
              <a:srgbClr val="761CC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615479" y="9869750"/>
            <a:ext cx="2672521" cy="0"/>
          </a:xfrm>
          <a:prstGeom prst="line">
            <a:avLst/>
          </a:prstGeom>
          <a:ln cap="rnd" w="657225">
            <a:solidFill>
              <a:srgbClr val="761C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7725886" y="9636216"/>
            <a:ext cx="467003" cy="467003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856241" y="2363826"/>
            <a:ext cx="6894474" cy="6894474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22268" y="2729864"/>
            <a:ext cx="6162422" cy="6162397"/>
            <a:chOff x="0" y="0"/>
            <a:chExt cx="6350000" cy="63499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40382" t="0" r="-9429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481179" y="3275068"/>
            <a:ext cx="1807022" cy="1807022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592058" y="3385950"/>
            <a:ext cx="1585263" cy="1585257"/>
            <a:chOff x="0" y="0"/>
            <a:chExt cx="6350000" cy="63499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761CC3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62306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936665" y="3728248"/>
            <a:ext cx="896049" cy="896049"/>
          </a:xfrm>
          <a:custGeom>
            <a:avLst/>
            <a:gdLst/>
            <a:ahLst/>
            <a:cxnLst/>
            <a:rect r="r" b="b" t="t" l="l"/>
            <a:pathLst>
              <a:path h="896049" w="896049">
                <a:moveTo>
                  <a:pt x="0" y="0"/>
                </a:moveTo>
                <a:lnTo>
                  <a:pt x="896049" y="0"/>
                </a:lnTo>
                <a:lnTo>
                  <a:pt x="896049" y="896049"/>
                </a:lnTo>
                <a:lnTo>
                  <a:pt x="0" y="8960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084018" y="581298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78939" y="2985171"/>
            <a:ext cx="8809061" cy="700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Gestión Manual e Información Dispersa</a:t>
            </a:r>
          </a:p>
          <a:p>
            <a:pPr algn="l">
              <a:lnSpc>
                <a:spcPts val="3697"/>
              </a:lnSpc>
            </a:pPr>
          </a:p>
          <a:p>
            <a:pPr algn="l">
              <a:lnSpc>
                <a:spcPts val="3697"/>
              </a:lnSpc>
            </a:pP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Transportes OGV operaba su logística mediante planillas de Excel no centralizadas y comunicación telefónica informal.</a:t>
            </a:r>
          </a:p>
          <a:p>
            <a:pPr algn="l">
              <a:lnSpc>
                <a:spcPts val="3697"/>
              </a:lnSpc>
            </a:pPr>
            <a:r>
              <a:rPr lang="en-US" sz="264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Desafíos Principales</a:t>
            </a: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l" marL="570208" indent="-285104" lvl="1">
              <a:lnSpc>
                <a:spcPts val="3697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Vencimiento no detectado de seguros, revisiones técnicas e impuestos.</a:t>
            </a:r>
          </a:p>
          <a:p>
            <a:pPr algn="l" marL="570208" indent="-285104" lvl="1">
              <a:lnSpc>
                <a:spcPts val="3697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Nula visibilidad en tiempo real de vehículos en ruta.</a:t>
            </a:r>
          </a:p>
          <a:p>
            <a:pPr algn="l" marL="570208" indent="-285104" lvl="1">
              <a:lnSpc>
                <a:spcPts val="3697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Falta de auditoría sobre cambios en asignación de viajes.</a:t>
            </a:r>
          </a:p>
          <a:p>
            <a:pPr algn="l" marL="570208" indent="-285104" lvl="1">
              <a:lnSpc>
                <a:spcPts val="3697"/>
              </a:lnSpc>
              <a:buFont typeface="Arial"/>
              <a:buChar char="•"/>
            </a:pPr>
            <a:r>
              <a:rPr lang="en-US" sz="264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Ausencia de un canal digital para reporte inmediato de incidencias por choferes.</a:t>
            </a:r>
          </a:p>
          <a:p>
            <a:pPr algn="l">
              <a:lnSpc>
                <a:spcPts val="3697"/>
              </a:lnSpc>
            </a:pPr>
          </a:p>
          <a:p>
            <a:pPr algn="r">
              <a:lnSpc>
                <a:spcPts val="369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146123" y="1736798"/>
            <a:ext cx="6084477" cy="99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638"/>
              </a:lnSpc>
            </a:pPr>
            <a:r>
              <a:rPr lang="en-US" b="true" sz="6944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PROBLEMÁTICA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18373" y="9645278"/>
            <a:ext cx="165158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More Info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744163" y="611275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BB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4121" y="-2181892"/>
            <a:ext cx="14087175" cy="14087175"/>
          </a:xfrm>
          <a:custGeom>
            <a:avLst/>
            <a:gdLst/>
            <a:ahLst/>
            <a:cxnLst/>
            <a:rect r="r" b="b" t="t" l="l"/>
            <a:pathLst>
              <a:path h="14087175" w="14087175">
                <a:moveTo>
                  <a:pt x="0" y="0"/>
                </a:moveTo>
                <a:lnTo>
                  <a:pt x="14087175" y="0"/>
                </a:lnTo>
                <a:lnTo>
                  <a:pt x="14087175" y="14087175"/>
                </a:lnTo>
                <a:lnTo>
                  <a:pt x="0" y="1408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4716004" y="1028700"/>
            <a:ext cx="2543296" cy="0"/>
          </a:xfrm>
          <a:prstGeom prst="line">
            <a:avLst/>
          </a:prstGeom>
          <a:ln cap="rnd" w="581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4146232" y="3266808"/>
            <a:ext cx="4674835" cy="3753384"/>
            <a:chOff x="0" y="0"/>
            <a:chExt cx="7467600" cy="5995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-10524" r="0" b="-1052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987423" y="1162323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761CC3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191" y="1675846"/>
            <a:ext cx="8217541" cy="993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8"/>
              </a:lnSpc>
            </a:pPr>
            <a:r>
              <a:rPr lang="en-US" b="true" sz="6944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SOLUCIÓN PROPUESTA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758312" y="1210560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6431" y="4507306"/>
            <a:ext cx="13499914" cy="3566673"/>
          </a:xfrm>
          <a:custGeom>
            <a:avLst/>
            <a:gdLst/>
            <a:ahLst/>
            <a:cxnLst/>
            <a:rect r="r" b="b" t="t" l="l"/>
            <a:pathLst>
              <a:path h="3566673" w="13499914">
                <a:moveTo>
                  <a:pt x="0" y="0"/>
                </a:moveTo>
                <a:lnTo>
                  <a:pt x="13499913" y="0"/>
                </a:lnTo>
                <a:lnTo>
                  <a:pt x="13499913" y="3566673"/>
                </a:lnTo>
                <a:lnTo>
                  <a:pt x="0" y="35666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75" t="0" r="-500" b="-123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BB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75409" y="-1900087"/>
            <a:ext cx="14087175" cy="14087175"/>
          </a:xfrm>
          <a:custGeom>
            <a:avLst/>
            <a:gdLst/>
            <a:ahLst/>
            <a:cxnLst/>
            <a:rect r="r" b="b" t="t" l="l"/>
            <a:pathLst>
              <a:path h="14087175" w="14087175">
                <a:moveTo>
                  <a:pt x="0" y="0"/>
                </a:moveTo>
                <a:lnTo>
                  <a:pt x="14087175" y="0"/>
                </a:lnTo>
                <a:lnTo>
                  <a:pt x="14087175" y="14087174"/>
                </a:lnTo>
                <a:lnTo>
                  <a:pt x="0" y="14087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4716004" y="1028700"/>
            <a:ext cx="2543296" cy="0"/>
          </a:xfrm>
          <a:prstGeom prst="line">
            <a:avLst/>
          </a:prstGeom>
          <a:ln cap="rnd" w="581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613165" y="3266808"/>
            <a:ext cx="4674835" cy="3753384"/>
            <a:chOff x="0" y="0"/>
            <a:chExt cx="7467600" cy="5995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-10524" r="0" b="-1052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987423" y="1162323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761CC3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296" y="911413"/>
            <a:ext cx="9972402" cy="1964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8"/>
              </a:lnSpc>
            </a:pPr>
            <a:r>
              <a:rPr lang="en-US" b="true" sz="6944" spc="-347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OBJETIVOS DEL PROYECTO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758312" y="1210560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8296" y="3136353"/>
            <a:ext cx="11502964" cy="594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Objetivo General:</a:t>
            </a: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Desarrollar una plataforma web integral que permita a Transporte OGV gestionar, monitorear y trazar las operaciones de su flota vehicular centralizando la información en un panel administrativo con seguimiento GPS y portal PWA.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Diseño de API &amp; BD:</a:t>
            </a: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Estructurar un modelo de datos robusto en MySQL y una API REST modular en PHP 8 para concentrar la información operativa.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Control de Roles (RBAC)</a:t>
            </a: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Implementar un panel de administración con permisos diferenciados entre administradores y operadores de despacho.</a:t>
            </a:r>
          </a:p>
          <a:p>
            <a:pPr algn="l" marL="561337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Monitoreo y Trazabilidad</a:t>
            </a: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Integrar mapas interactivos (Leaflet) para geolocalizar rutas activas, junto a un registro de auditoría y notificaciones internas.</a:t>
            </a:r>
          </a:p>
          <a:p>
            <a:pPr algn="l">
              <a:lnSpc>
                <a:spcPts val="36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BB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75409" y="-1900087"/>
            <a:ext cx="14087175" cy="14087175"/>
          </a:xfrm>
          <a:custGeom>
            <a:avLst/>
            <a:gdLst/>
            <a:ahLst/>
            <a:cxnLst/>
            <a:rect r="r" b="b" t="t" l="l"/>
            <a:pathLst>
              <a:path h="14087175" w="14087175">
                <a:moveTo>
                  <a:pt x="0" y="0"/>
                </a:moveTo>
                <a:lnTo>
                  <a:pt x="14087175" y="0"/>
                </a:lnTo>
                <a:lnTo>
                  <a:pt x="14087175" y="14087174"/>
                </a:lnTo>
                <a:lnTo>
                  <a:pt x="0" y="14087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4716004" y="1028700"/>
            <a:ext cx="2543296" cy="0"/>
          </a:xfrm>
          <a:prstGeom prst="line">
            <a:avLst/>
          </a:prstGeom>
          <a:ln cap="rnd" w="581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3613165" y="3266808"/>
            <a:ext cx="4674835" cy="3753384"/>
            <a:chOff x="0" y="0"/>
            <a:chExt cx="7467600" cy="59956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4"/>
              <a:stretch>
                <a:fillRect l="0" t="-10524" r="0" b="-1052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987423" y="1162323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761CC3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758312" y="1210560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68296" y="2651118"/>
            <a:ext cx="11735765" cy="6975605"/>
          </a:xfrm>
          <a:custGeom>
            <a:avLst/>
            <a:gdLst/>
            <a:ahLst/>
            <a:cxnLst/>
            <a:rect r="r" b="b" t="t" l="l"/>
            <a:pathLst>
              <a:path h="6975605" w="11735765">
                <a:moveTo>
                  <a:pt x="0" y="0"/>
                </a:moveTo>
                <a:lnTo>
                  <a:pt x="11735765" y="0"/>
                </a:lnTo>
                <a:lnTo>
                  <a:pt x="11735765" y="6975605"/>
                </a:lnTo>
                <a:lnTo>
                  <a:pt x="0" y="6975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13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68296" y="911413"/>
            <a:ext cx="9972402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NECESIDADES POR ACTOR</a:t>
            </a:r>
          </a:p>
          <a:p>
            <a:pPr algn="l">
              <a:lnSpc>
                <a:spcPts val="76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613550" y="806275"/>
            <a:ext cx="8674450" cy="8674450"/>
          </a:xfrm>
          <a:custGeom>
            <a:avLst/>
            <a:gdLst/>
            <a:ahLst/>
            <a:cxnLst/>
            <a:rect r="r" b="b" t="t" l="l"/>
            <a:pathLst>
              <a:path h="8674450" w="8674450">
                <a:moveTo>
                  <a:pt x="8674450" y="0"/>
                </a:moveTo>
                <a:lnTo>
                  <a:pt x="0" y="0"/>
                </a:lnTo>
                <a:lnTo>
                  <a:pt x="0" y="8674450"/>
                </a:lnTo>
                <a:lnTo>
                  <a:pt x="8674450" y="8674450"/>
                </a:lnTo>
                <a:lnTo>
                  <a:pt x="867445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984763" y="2422143"/>
            <a:ext cx="4303237" cy="5442714"/>
            <a:chOff x="0" y="0"/>
            <a:chExt cx="5737649" cy="7256953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5"/>
            <a:srcRect l="35002" t="0" r="23290" b="0"/>
            <a:stretch>
              <a:fillRect/>
            </a:stretch>
          </p:blipFill>
          <p:spPr>
            <a:xfrm flipH="false" flipV="false">
              <a:off x="0" y="0"/>
              <a:ext cx="5737649" cy="7256953"/>
            </a:xfrm>
            <a:prstGeom prst="rect">
              <a:avLst/>
            </a:prstGeom>
          </p:spPr>
        </p:pic>
      </p:grpSp>
      <p:sp>
        <p:nvSpPr>
          <p:cNvPr name="AutoShape 6" id="6"/>
          <p:cNvSpPr/>
          <p:nvPr/>
        </p:nvSpPr>
        <p:spPr>
          <a:xfrm rot="0">
            <a:off x="14716004" y="1028700"/>
            <a:ext cx="2543296" cy="0"/>
          </a:xfrm>
          <a:prstGeom prst="line">
            <a:avLst/>
          </a:prstGeom>
          <a:ln cap="rnd" w="581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987423" y="1162323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761CC3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2319" y="1076325"/>
            <a:ext cx="10684114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9"/>
              </a:lnSpc>
            </a:pPr>
            <a:r>
              <a:rPr lang="en-US" b="true" sz="61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CUATRO PILARES ESTATEGICOS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367364" y="1863268"/>
            <a:ext cx="3411354" cy="6749950"/>
            <a:chOff x="0" y="0"/>
            <a:chExt cx="2620010" cy="51841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169731" t="0" r="-55526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6758312" y="1210560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92319" y="2794712"/>
            <a:ext cx="8751681" cy="662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Valor Cliente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Reducción de llamadas operativas, eliminación de multas por papelería vencida y toma de decisiones informada.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Factibilidad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Desarrollo en PHP 8, MySQL y JS Vanilla, permitiendo despliegue eficiente en hosting compartido sin costos extra.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Impacto Organizacional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Estructuración de roles de trabajo, responsabilidad operacional clara y trazabilidad completa mediante auditoría.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Sostenibilidad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genérica CRUD altamente mantenible y preparada para integrar hardware GPS dedicado a futuro.</a:t>
            </a:r>
          </a:p>
          <a:p>
            <a:pPr algn="l">
              <a:lnSpc>
                <a:spcPts val="3041"/>
              </a:lnSpc>
              <a:spcBef>
                <a:spcPct val="0"/>
              </a:spcBef>
            </a:pPr>
          </a:p>
          <a:p>
            <a:pPr algn="l">
              <a:lnSpc>
                <a:spcPts val="2681"/>
              </a:lnSpc>
              <a:spcBef>
                <a:spcPct val="0"/>
              </a:spcBef>
            </a:pPr>
          </a:p>
          <a:p>
            <a:pPr algn="l">
              <a:lnSpc>
                <a:spcPts val="268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574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8312" y="1210560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745149" y="2651278"/>
            <a:ext cx="6514151" cy="5900197"/>
          </a:xfrm>
          <a:custGeom>
            <a:avLst/>
            <a:gdLst/>
            <a:ahLst/>
            <a:cxnLst/>
            <a:rect r="r" b="b" t="t" l="l"/>
            <a:pathLst>
              <a:path h="5900197" w="6514151">
                <a:moveTo>
                  <a:pt x="0" y="0"/>
                </a:moveTo>
                <a:lnTo>
                  <a:pt x="6514151" y="0"/>
                </a:lnTo>
                <a:lnTo>
                  <a:pt x="6514151" y="5900197"/>
                </a:lnTo>
                <a:lnTo>
                  <a:pt x="0" y="59001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96187"/>
            <a:ext cx="10090424" cy="195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8"/>
              </a:lnSpc>
            </a:pPr>
            <a:r>
              <a:rPr lang="en-US" sz="6944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ENTREGABLES FORMALES</a:t>
            </a:r>
          </a:p>
          <a:p>
            <a:pPr algn="l">
              <a:lnSpc>
                <a:spcPts val="763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62205" y="2881160"/>
            <a:ext cx="9209943" cy="5908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9795" indent="-329898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b="true" sz="305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Panel Admin Web:</a:t>
            </a: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SPA con 10 módulos de gestión y control de accesos RBAC.</a:t>
            </a:r>
          </a:p>
          <a:p>
            <a:pPr algn="l" marL="659795" indent="-329898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b="true" sz="305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Mapa Operacional:</a:t>
            </a: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Seguimiento de posición en tiempo real impulsado por Leaflet.js.</a:t>
            </a:r>
          </a:p>
          <a:p>
            <a:pPr algn="l" marL="659795" indent="-329898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b="true" sz="305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Portal Conductor PWA:</a:t>
            </a: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Web App instalable para teléfonos con login por número móvil.</a:t>
            </a:r>
          </a:p>
          <a:p>
            <a:pPr algn="l" marL="659795" indent="-329898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lang="en-US" b="true" sz="305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Notificaciones Internas:</a:t>
            </a: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Alertas del sistema ante eventos de ruta e incidencias.</a:t>
            </a:r>
          </a:p>
          <a:p>
            <a:pPr algn="l" marL="659795" indent="-329898" lvl="1">
              <a:lnSpc>
                <a:spcPts val="4278"/>
              </a:lnSpc>
              <a:buFont typeface="Arial"/>
              <a:buChar char="•"/>
            </a:pP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lang="en-US" b="true" sz="305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Módulo de Auditoría: </a:t>
            </a:r>
            <a:r>
              <a:rPr lang="en-US" sz="305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 inmutable de acciones en servidor.</a:t>
            </a:r>
          </a:p>
          <a:p>
            <a:pPr algn="l">
              <a:lnSpc>
                <a:spcPts val="4278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601643" y="2161792"/>
            <a:ext cx="5646448" cy="5646448"/>
          </a:xfrm>
          <a:custGeom>
            <a:avLst/>
            <a:gdLst/>
            <a:ahLst/>
            <a:cxnLst/>
            <a:rect r="r" b="b" t="t" l="l"/>
            <a:pathLst>
              <a:path h="5646448" w="5646448">
                <a:moveTo>
                  <a:pt x="5646447" y="0"/>
                </a:moveTo>
                <a:lnTo>
                  <a:pt x="0" y="0"/>
                </a:lnTo>
                <a:lnTo>
                  <a:pt x="0" y="5646448"/>
                </a:lnTo>
                <a:lnTo>
                  <a:pt x="5646447" y="5646448"/>
                </a:lnTo>
                <a:lnTo>
                  <a:pt x="5646447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4716004" y="1028700"/>
            <a:ext cx="2543296" cy="0"/>
          </a:xfrm>
          <a:prstGeom prst="line">
            <a:avLst/>
          </a:prstGeom>
          <a:ln cap="rnd" w="581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-20574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120391" y="3573489"/>
            <a:ext cx="4608950" cy="3700485"/>
            <a:chOff x="0" y="0"/>
            <a:chExt cx="7467600" cy="59956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34265" y="5210810"/>
              <a:ext cx="2596530" cy="786130"/>
            </a:xfrm>
            <a:custGeom>
              <a:avLst/>
              <a:gdLst/>
              <a:ahLst/>
              <a:cxnLst/>
              <a:rect r="r" b="b" t="t" l="l"/>
              <a:pathLst>
                <a:path h="786130" w="25965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7"/>
              <a:stretch>
                <a:fillRect l="0" t="-9300" r="0" b="-930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4987423" y="890070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761CC3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6758312" y="920047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3732" y="2709780"/>
            <a:ext cx="12583154" cy="7098608"/>
          </a:xfrm>
          <a:custGeom>
            <a:avLst/>
            <a:gdLst/>
            <a:ahLst/>
            <a:cxnLst/>
            <a:rect r="r" b="b" t="t" l="l"/>
            <a:pathLst>
              <a:path h="7098608" w="12583154">
                <a:moveTo>
                  <a:pt x="0" y="0"/>
                </a:moveTo>
                <a:lnTo>
                  <a:pt x="12583154" y="0"/>
                </a:lnTo>
                <a:lnTo>
                  <a:pt x="12583154" y="7098608"/>
                </a:lnTo>
                <a:lnTo>
                  <a:pt x="0" y="7098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86" r="0" b="-18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3732" y="451861"/>
            <a:ext cx="7579157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b="true" sz="6999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MODULO DE LA PLATAFORMA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BBB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812600" y="738187"/>
            <a:ext cx="2543296" cy="0"/>
          </a:xfrm>
          <a:prstGeom prst="line">
            <a:avLst/>
          </a:prstGeom>
          <a:ln cap="rnd" w="581025">
            <a:solidFill>
              <a:srgbClr val="761CC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615479" y="9869750"/>
            <a:ext cx="2672521" cy="0"/>
          </a:xfrm>
          <a:prstGeom prst="line">
            <a:avLst/>
          </a:prstGeom>
          <a:ln cap="rnd" w="657225">
            <a:solidFill>
              <a:srgbClr val="761CC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7725886" y="9636216"/>
            <a:ext cx="467003" cy="46700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230600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084018" y="581298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770" y="3444660"/>
            <a:ext cx="8415730" cy="522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Incluido en el Proyecto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 Módulos de gestión CRUD en Panel Administrativo.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Portal PWA independiente para conductores.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Seguimiento GPS vía navegador web móvil.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notificaciones de eventos e incidencias.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auditoría de acciones del sistema.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25369" y="1085850"/>
            <a:ext cx="9281641" cy="195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638"/>
              </a:lnSpc>
            </a:pPr>
            <a:r>
              <a:rPr lang="en-US" b="true" sz="6944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ALCANCE DEL PROYECTO</a:t>
            </a:r>
          </a:p>
          <a:p>
            <a:pPr algn="r">
              <a:lnSpc>
                <a:spcPts val="763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918373" y="9645278"/>
            <a:ext cx="165158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More Info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744163" y="611275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07010" y="3435135"/>
            <a:ext cx="8327335" cy="495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Exclusiones y Trabajo Futuro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con hardware GPS físico instalado en vehículos (API lista).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Pasarelas de pago y facturación electrónica (SII).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Aplicaciones nativas para App Store / Google Play Store.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analítica avanzada e inteligencia de negocios.</a:t>
            </a: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" t="0" r="-111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4716004" y="1028700"/>
            <a:ext cx="2543296" cy="0"/>
          </a:xfrm>
          <a:prstGeom prst="line">
            <a:avLst/>
          </a:prstGeom>
          <a:ln cap="rnd" w="5810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935246" y="3477541"/>
            <a:ext cx="11561517" cy="11561517"/>
          </a:xfrm>
          <a:custGeom>
            <a:avLst/>
            <a:gdLst/>
            <a:ahLst/>
            <a:cxnLst/>
            <a:rect r="r" b="b" t="t" l="l"/>
            <a:pathLst>
              <a:path h="11561517" w="11561517">
                <a:moveTo>
                  <a:pt x="0" y="0"/>
                </a:moveTo>
                <a:lnTo>
                  <a:pt x="11561517" y="0"/>
                </a:lnTo>
                <a:lnTo>
                  <a:pt x="11561517" y="11561518"/>
                </a:lnTo>
                <a:lnTo>
                  <a:pt x="0" y="11561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915744" y="3477541"/>
            <a:ext cx="6143357" cy="3523755"/>
            <a:chOff x="0" y="0"/>
            <a:chExt cx="7981950" cy="4578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5"/>
              <a:stretch>
                <a:fillRect l="0" t="-3228" r="0" b="-3228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246839" y="4694948"/>
            <a:ext cx="2212047" cy="4376916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158416" t="0" r="-87615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987423" y="1162323"/>
            <a:ext cx="1907817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3"/>
              </a:lnSpc>
            </a:pPr>
            <a:r>
              <a:rPr lang="en-US" sz="1827">
                <a:solidFill>
                  <a:srgbClr val="761CC3"/>
                </a:solidFill>
                <a:latin typeface="Arial"/>
                <a:ea typeface="Arial"/>
                <a:cs typeface="Arial"/>
                <a:sym typeface="Arial"/>
              </a:rPr>
              <a:t>Search . . 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6758312" y="1210560"/>
            <a:ext cx="273856" cy="265298"/>
          </a:xfrm>
          <a:custGeom>
            <a:avLst/>
            <a:gdLst/>
            <a:ahLst/>
            <a:cxnLst/>
            <a:rect r="r" b="b" t="t" l="l"/>
            <a:pathLst>
              <a:path h="265298" w="273856">
                <a:moveTo>
                  <a:pt x="0" y="0"/>
                </a:moveTo>
                <a:lnTo>
                  <a:pt x="273856" y="0"/>
                </a:lnTo>
                <a:lnTo>
                  <a:pt x="273856" y="265298"/>
                </a:lnTo>
                <a:lnTo>
                  <a:pt x="0" y="2652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60085" y="4861566"/>
            <a:ext cx="7972599" cy="396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proyecto reemplaza el uso de planillas Excel desactualizadas por un sistema web integrado en tiempo real.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Garantiza cero multas por vencimientos documentales no advertidos, visibilidad de los vehículos en ruta y respaldo de cada acción ejecutada en la plataforma.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60085" y="1376362"/>
            <a:ext cx="10405864" cy="197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IMPACTO EN LA OPERACIÓN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660085" y="3360737"/>
            <a:ext cx="874413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TRANSFORMACIÓN DIGITAL DE TRANSPORTE OGV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DAG3RTZbdZQ</dc:identifier>
  <dcterms:modified xsi:type="dcterms:W3CDTF">2011-08-01T06:04:30Z</dcterms:modified>
  <cp:revision>1</cp:revision>
  <dc:title>Definición del Proyecto APT</dc:title>
</cp:coreProperties>
</file>